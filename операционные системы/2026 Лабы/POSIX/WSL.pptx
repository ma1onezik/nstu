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81" r:id="rId2"/>
    <p:sldId id="304" r:id="rId3"/>
    <p:sldId id="284" r:id="rId4"/>
    <p:sldId id="287" r:id="rId5"/>
    <p:sldId id="288" r:id="rId6"/>
    <p:sldId id="289" r:id="rId7"/>
    <p:sldId id="286" r:id="rId8"/>
    <p:sldId id="290" r:id="rId9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CD705C-C5AF-46E0-BC27-73D2A9975077}" type="datetimeFigureOut">
              <a:rPr lang="ru-RU" smtClean="0"/>
              <a:pPr/>
              <a:t>03.02.2026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A269BF-DBB0-4A8B-9426-19ECDA8E497C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269BF-DBB0-4A8B-9426-19ECDA8E497C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A269BF-DBB0-4A8B-9426-19ECDA8E497C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5E22BD-110E-4C1E-84C6-88995F1A3E23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EE313-4936-44ED-AC97-53FE891C109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EC7905-7779-42D0-998D-A794585F588D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F82F18-C4EB-4F05-8E86-6CE7E21931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87A5CB-E476-48EA-8417-187631E19296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51B56A-F283-4B74-A527-56F62122FA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CE8494-11B6-4577-A647-BEFA6C28AB14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16A309-49D2-49B6-AF11-94D5C79F2DD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9ED324-5EA7-4981-A003-186A516A94EF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9DFBB-A50F-4A9A-97D3-B3AC01D1F72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3855F0-039D-49F3-9511-6BE2AF1377E2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77BDE-D595-405A-85AE-A42A8B46DA9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558E94-BCA2-49CB-B30F-CEBC6A15A8B4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32739-A3F0-43F6-85BD-682C79AD0C9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87D49-E2BA-48F1-977B-B3BBB011F013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642E7-18CE-4DE7-A73D-2D7DC972CC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1E412-57B3-4501-9C24-AF9AB8A138AC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A008D1-34D3-4E22-BD8C-783C8CDA534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5F6CB7-D9D2-41C8-AC74-865739C43865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3CE390-3FB4-42D0-999A-61BA7C6787A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2EB15-AEA5-4298-AE73-36439EC016FD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B7ACB5-E395-49C4-B139-2E00ACCD215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7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 smtClean="0"/>
              <a:t>Образец текста</a:t>
            </a:r>
          </a:p>
          <a:p>
            <a:pPr lvl="1"/>
            <a:r>
              <a:rPr lang="ru-RU" altLang="ru-RU" smtClean="0"/>
              <a:t>Второй уровень</a:t>
            </a:r>
          </a:p>
          <a:p>
            <a:pPr lvl="2"/>
            <a:r>
              <a:rPr lang="ru-RU" altLang="ru-RU" smtClean="0"/>
              <a:t>Третий уровень</a:t>
            </a:r>
          </a:p>
          <a:p>
            <a:pPr lvl="3"/>
            <a:r>
              <a:rPr lang="ru-RU" altLang="ru-RU" smtClean="0"/>
              <a:t>Четвертый уровень</a:t>
            </a:r>
          </a:p>
          <a:p>
            <a:pPr lvl="4"/>
            <a:r>
              <a:rPr lang="ru-RU" alt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616D54A-0245-42B7-8938-C7EE8DE9E58D}" type="datetimeFigureOut">
              <a:rPr lang="ru-RU"/>
              <a:pPr>
                <a:defRPr/>
              </a:pPr>
              <a:t>03.02.2026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1D7ADDC-85F4-4F8C-B07C-30084054CEB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ru-RU" altLang="ru-RU" sz="3600" smtClean="0">
                <a:solidFill>
                  <a:schemeClr val="bg1"/>
                </a:solidFill>
                <a:latin typeface="Calibri" pitchFamily="34" charset="0"/>
              </a:rPr>
              <a:t>Виртуализация</a:t>
            </a:r>
            <a:endParaRPr lang="ru-RU" altLang="ru-RU" sz="36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/>
          <p:cNvSpPr/>
          <p:nvPr/>
        </p:nvSpPr>
        <p:spPr>
          <a:xfrm>
            <a:off x="323528" y="764704"/>
            <a:ext cx="828092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smtClean="0">
                <a:solidFill>
                  <a:schemeClr val="bg1"/>
                </a:solidFill>
              </a:rPr>
              <a:t>Виртуализация</a:t>
            </a:r>
            <a:r>
              <a:rPr lang="en-US" smtClean="0">
                <a:solidFill>
                  <a:schemeClr val="bg1"/>
                </a:solidFill>
              </a:rPr>
              <a:t> – </a:t>
            </a:r>
            <a:r>
              <a:rPr lang="ru-RU" smtClean="0">
                <a:solidFill>
                  <a:schemeClr val="bg1"/>
                </a:solidFill>
              </a:rPr>
              <a:t>«отделение» среды исполнения ПО от физической среды</a:t>
            </a:r>
            <a:r>
              <a:rPr lang="en-US" smtClean="0">
                <a:solidFill>
                  <a:schemeClr val="bg1"/>
                </a:solidFill>
              </a:rPr>
              <a:t>:</a:t>
            </a:r>
          </a:p>
          <a:p>
            <a:pPr algn="just">
              <a:defRPr/>
            </a:pPr>
            <a:endParaRPr lang="en-US" smtClean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ru-RU" smtClean="0">
                <a:solidFill>
                  <a:schemeClr val="bg1"/>
                </a:solidFill>
              </a:rPr>
              <a:t>Среда исполнения ограниченного набора программных компонент одной ОС в  другой (</a:t>
            </a:r>
            <a:r>
              <a:rPr lang="en-US" smtClean="0">
                <a:solidFill>
                  <a:schemeClr val="bg1"/>
                </a:solidFill>
              </a:rPr>
              <a:t>CigWin, MinGV</a:t>
            </a:r>
            <a:r>
              <a:rPr lang="ru-RU" smtClean="0">
                <a:solidFill>
                  <a:schemeClr val="bg1"/>
                </a:solidFill>
              </a:rPr>
              <a:t>)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ru-RU" smtClean="0">
                <a:solidFill>
                  <a:schemeClr val="bg1"/>
                </a:solidFill>
              </a:rPr>
              <a:t>Виртуальная среда исполнения кода. </a:t>
            </a:r>
            <a:r>
              <a:rPr lang="en-US" smtClean="0">
                <a:solidFill>
                  <a:schemeClr val="bg1"/>
                </a:solidFill>
              </a:rPr>
              <a:t>Java (JVM)</a:t>
            </a:r>
            <a:endParaRPr lang="ru-RU" smtClean="0">
              <a:solidFill>
                <a:schemeClr val="bg1"/>
              </a:solidFill>
            </a:endParaRP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ru-RU" smtClean="0">
                <a:solidFill>
                  <a:schemeClr val="bg1"/>
                </a:solidFill>
              </a:rPr>
              <a:t>Виртуальная ОС </a:t>
            </a:r>
          </a:p>
          <a:p>
            <a:pPr marL="342900" indent="-342900" algn="just">
              <a:buFont typeface="+mj-lt"/>
              <a:buAutoNum type="arabicPeriod"/>
              <a:defRPr/>
            </a:pPr>
            <a:r>
              <a:rPr lang="ru-RU" smtClean="0">
                <a:solidFill>
                  <a:schemeClr val="bg1"/>
                </a:solidFill>
              </a:rPr>
              <a:t>Контейнер – создание собственной среды исполнения приложения, отдельного от других приложений ОС (зависимости от версий библиотек, СУБД, настройки сети и т.п.)</a:t>
            </a:r>
            <a:endParaRPr lang="en-US" smtClean="0">
              <a:solidFill>
                <a:schemeClr val="bg1"/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5445224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mtClean="0">
                <a:solidFill>
                  <a:srgbClr val="FFFF00"/>
                </a:solidFill>
                <a:latin typeface="+mn-lt"/>
              </a:rPr>
              <a:t>Изучаем подсистемы </a:t>
            </a:r>
            <a:r>
              <a:rPr lang="en-US" smtClean="0">
                <a:solidFill>
                  <a:srgbClr val="FFFF00"/>
                </a:solidFill>
                <a:latin typeface="+mn-lt"/>
              </a:rPr>
              <a:t>Windows </a:t>
            </a:r>
            <a:r>
              <a:rPr lang="ru-RU" smtClean="0">
                <a:solidFill>
                  <a:srgbClr val="FFFF00"/>
                </a:solidFill>
                <a:latin typeface="+mn-lt"/>
              </a:rPr>
              <a:t>для </a:t>
            </a:r>
            <a:r>
              <a:rPr lang="en-US" smtClean="0">
                <a:solidFill>
                  <a:srgbClr val="FFFF00"/>
                </a:solidFill>
                <a:latin typeface="+mn-lt"/>
              </a:rPr>
              <a:t>Linux</a:t>
            </a:r>
            <a:r>
              <a:rPr lang="ru-RU" smtClean="0">
                <a:solidFill>
                  <a:schemeClr val="bg1"/>
                </a:solidFill>
                <a:latin typeface="+mn-lt"/>
              </a:rPr>
              <a:t>, (перевод)  Прэйтик Сингх</a:t>
            </a:r>
          </a:p>
          <a:p>
            <a:r>
              <a:rPr lang="en-US" smtClean="0">
                <a:solidFill>
                  <a:schemeClr val="bg1"/>
                </a:solidFill>
                <a:latin typeface="+mn-lt"/>
              </a:rPr>
              <a:t>http://onreader.mdl.ru/LearnWindowsSubsystemLinuxProfessionals/content/index.html</a:t>
            </a:r>
            <a:endParaRPr lang="ru-RU" smtClean="0">
              <a:solidFill>
                <a:schemeClr val="bg1"/>
              </a:solidFill>
              <a:latin typeface="+mn-lt"/>
            </a:endParaRPr>
          </a:p>
          <a:p>
            <a:r>
              <a:rPr lang="ru-RU" smtClean="0">
                <a:solidFill>
                  <a:srgbClr val="FFFF00"/>
                </a:solidFill>
                <a:latin typeface="+mn-lt"/>
              </a:rPr>
              <a:t>Контейнеры Linux и виртуализация </a:t>
            </a:r>
            <a:r>
              <a:rPr lang="ru-RU" smtClean="0">
                <a:solidFill>
                  <a:schemeClr val="bg1"/>
                </a:solidFill>
                <a:latin typeface="+mn-lt"/>
              </a:rPr>
              <a:t>(перевод) Шашанка Мохана Джейна</a:t>
            </a:r>
          </a:p>
          <a:p>
            <a:r>
              <a:rPr lang="en-US" smtClean="0">
                <a:solidFill>
                  <a:schemeClr val="bg1"/>
                </a:solidFill>
                <a:latin typeface="+mn-lt"/>
              </a:rPr>
              <a:t>http://onreader.mdl.ru/LinuxContainersVirtualizationKernelPerspective/content/Ch01.html</a:t>
            </a:r>
            <a:endParaRPr lang="ru-RU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+mn-lt"/>
              </a:rPr>
              <a:t>WSL -</a:t>
            </a:r>
            <a:r>
              <a:rPr lang="en-US" sz="3200" dirty="0" smtClean="0">
                <a:solidFill>
                  <a:schemeClr val="bg1"/>
                </a:solidFill>
                <a:latin typeface="+mn-lt"/>
              </a:rPr>
              <a:t>Windows-</a:t>
            </a:r>
            <a:r>
              <a:rPr lang="en-US" sz="3200" dirty="0">
                <a:solidFill>
                  <a:schemeClr val="bg1"/>
                </a:solidFill>
                <a:latin typeface="+mn-lt"/>
              </a:rPr>
              <a:t>S</a:t>
            </a:r>
            <a:r>
              <a:rPr lang="en-US" sz="3200" dirty="0" smtClean="0">
                <a:solidFill>
                  <a:schemeClr val="bg1"/>
                </a:solidFill>
                <a:latin typeface="+mn-lt"/>
              </a:rPr>
              <a:t>ubsystem-for-Linux</a:t>
            </a:r>
            <a:r>
              <a:rPr lang="en-US" altLang="ru-RU" sz="3200" dirty="0" smtClean="0">
                <a:solidFill>
                  <a:schemeClr val="bg1"/>
                </a:solidFill>
                <a:latin typeface="+mn-lt"/>
              </a:rPr>
              <a:t> </a:t>
            </a:r>
            <a:endParaRPr lang="ru-RU" altLang="ru-RU" sz="3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Прямоугольник 2"/>
          <p:cNvSpPr/>
          <p:nvPr/>
        </p:nvSpPr>
        <p:spPr>
          <a:xfrm>
            <a:off x="4211960" y="692696"/>
            <a:ext cx="477521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dirty="0" smtClean="0">
                <a:solidFill>
                  <a:srgbClr val="FFFF00"/>
                </a:solidFill>
                <a:latin typeface="+mn-lt"/>
              </a:rPr>
              <a:t>«</a:t>
            </a:r>
            <a:r>
              <a:rPr lang="en-US" dirty="0" smtClean="0">
                <a:solidFill>
                  <a:srgbClr val="FFFF00"/>
                </a:solidFill>
                <a:latin typeface="+mn-lt"/>
              </a:rPr>
              <a:t>So like DOS before him, this Windows must die</a:t>
            </a:r>
            <a:r>
              <a:rPr lang="ru-RU" dirty="0" smtClean="0">
                <a:solidFill>
                  <a:srgbClr val="FFFF00"/>
                </a:solidFill>
                <a:latin typeface="+mn-lt"/>
              </a:rPr>
              <a:t>»</a:t>
            </a:r>
            <a:endParaRPr lang="en-US" dirty="0" smtClean="0">
              <a:solidFill>
                <a:srgbClr val="FFFF00"/>
              </a:solidFill>
              <a:latin typeface="+mn-lt"/>
            </a:endParaRPr>
          </a:p>
          <a:p>
            <a:pPr>
              <a:defRPr/>
            </a:pPr>
            <a:r>
              <a:rPr lang="ru-RU" b="1" dirty="0" smtClean="0">
                <a:solidFill>
                  <a:schemeClr val="bg1"/>
                </a:solidFill>
                <a:latin typeface="+mn-lt"/>
              </a:rPr>
              <a:t>Реминисценция на «</a:t>
            </a:r>
            <a:r>
              <a:rPr lang="en-US" b="1" dirty="0" smtClean="0">
                <a:solidFill>
                  <a:schemeClr val="bg1"/>
                </a:solidFill>
                <a:latin typeface="+mn-lt"/>
              </a:rPr>
              <a:t>Jesus Christ  Superstar</a:t>
            </a:r>
            <a:r>
              <a:rPr lang="ru-RU" b="1" dirty="0" smtClean="0">
                <a:solidFill>
                  <a:schemeClr val="bg1"/>
                </a:solidFill>
                <a:latin typeface="+mn-lt"/>
              </a:rPr>
              <a:t>»</a:t>
            </a:r>
            <a:endParaRPr lang="ru-RU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179512" y="1268760"/>
            <a:ext cx="896448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 smtClean="0">
                <a:solidFill>
                  <a:srgbClr val="FFFF00"/>
                </a:solidFill>
                <a:latin typeface="+mn-lt"/>
              </a:rPr>
              <a:t>http://onreader.mdl.ru/LearnWindowsSubsystemLinuxProfessionals/content/index.html</a:t>
            </a:r>
          </a:p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Изучаем подсистемы </a:t>
            </a:r>
            <a:r>
              <a:rPr lang="ru-RU" dirty="0" err="1" smtClean="0">
                <a:solidFill>
                  <a:schemeClr val="bg1"/>
                </a:solidFill>
                <a:latin typeface="+mn-lt"/>
              </a:rPr>
              <a:t>Windows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для </a:t>
            </a:r>
            <a:r>
              <a:rPr lang="ru-RU" dirty="0" err="1" smtClean="0">
                <a:solidFill>
                  <a:schemeClr val="bg1"/>
                </a:solidFill>
                <a:latin typeface="+mn-lt"/>
              </a:rPr>
              <a:t>Linux</a:t>
            </a: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en-US" dirty="0" smtClean="0">
                <a:solidFill>
                  <a:srgbClr val="FFFF00"/>
                </a:solidFill>
              </a:rPr>
              <a:t>https://techrocks.ru/2019/11/17/windows-subsystem-for-linux-wsl/</a:t>
            </a:r>
            <a:r>
              <a:rPr lang="ru-RU" dirty="0" smtClean="0">
                <a:solidFill>
                  <a:srgbClr val="FFFF00"/>
                </a:solidFill>
              </a:rPr>
              <a:t> </a:t>
            </a:r>
            <a:r>
              <a:rPr lang="ru-RU" dirty="0" smtClean="0">
                <a:solidFill>
                  <a:schemeClr val="bg1"/>
                </a:solidFill>
              </a:rPr>
              <a:t>- популярно</a:t>
            </a: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51520" y="2276872"/>
            <a:ext cx="84969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WSL - Windows-Subsystem-for-Linux: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 WSL1 -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подсистема позволяет в </a:t>
            </a:r>
            <a:r>
              <a:rPr lang="ru-RU" dirty="0" err="1" smtClean="0">
                <a:solidFill>
                  <a:schemeClr val="bg1"/>
                </a:solidFill>
                <a:latin typeface="+mn-lt"/>
              </a:rPr>
              <a:t>Windows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запускать программы GNU/</a:t>
            </a:r>
            <a:r>
              <a:rPr lang="ru-RU" dirty="0" err="1" smtClean="0">
                <a:solidFill>
                  <a:schemeClr val="bg1"/>
                </a:solidFill>
                <a:latin typeface="+mn-lt"/>
              </a:rPr>
              <a:t>Linux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в двоичном исполняемом формате ELF-64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(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эмуляция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API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процесса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)</a:t>
            </a:r>
            <a:endParaRPr lang="ru-RU" dirty="0" smtClean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51520" y="3284984"/>
            <a:ext cx="352839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WSL2 –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виртуальная машина с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 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на основе </a:t>
            </a:r>
            <a:r>
              <a:rPr lang="ru-RU" dirty="0" err="1" smtClean="0">
                <a:solidFill>
                  <a:schemeClr val="bg1"/>
                </a:solidFill>
                <a:latin typeface="+mn-lt"/>
              </a:rPr>
              <a:t>арзитектуры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Hyper-V (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гипервизор, аппаратно-программная изоляция среды ОС от «железа», создание виртуальной среды исполнения кода ОС (в т.ч. ядра)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67944" y="3212976"/>
            <a:ext cx="4685941" cy="34952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 – </a:t>
            </a: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запуск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179512" y="692696"/>
            <a:ext cx="8721725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  <a:latin typeface="+mn-lt"/>
              </a:rPr>
              <a:t>PowerShell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-</a:t>
            </a:r>
            <a:r>
              <a:rPr lang="ru-RU" dirty="0">
                <a:latin typeface="+mn-lt"/>
              </a:rPr>
              <a:t> 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расширяемое средство автоматизации от </a:t>
            </a:r>
            <a:r>
              <a:rPr lang="ru-RU" dirty="0" err="1">
                <a:solidFill>
                  <a:schemeClr val="bg1"/>
                </a:solidFill>
                <a:latin typeface="+mn-lt"/>
              </a:rPr>
              <a:t>Microsoft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с открытым исходным кодом, состоящее из оболочки с </a:t>
            </a:r>
            <a:r>
              <a:rPr lang="ru-RU" b="1" dirty="0">
                <a:solidFill>
                  <a:srgbClr val="FFFF00"/>
                </a:solidFill>
                <a:latin typeface="+mn-lt"/>
              </a:rPr>
              <a:t>интерфейсом командной строки</a:t>
            </a:r>
            <a:r>
              <a:rPr lang="ru-RU" dirty="0">
                <a:solidFill>
                  <a:schemeClr val="bg1"/>
                </a:solidFill>
                <a:latin typeface="+mn-lt"/>
              </a:rPr>
              <a:t> и сопутствующего языка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сценариев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19" y="1700808"/>
            <a:ext cx="4007663" cy="2232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3848" y="2348880"/>
            <a:ext cx="5526955" cy="2674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323528" y="5157192"/>
            <a:ext cx="657103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  <a:latin typeface="+mn-lt"/>
              </a:rPr>
              <a:t>WSL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запускается как команда в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PowerShell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r>
              <a:rPr lang="en-US" dirty="0" smtClean="0">
                <a:solidFill>
                  <a:srgbClr val="FFFF00"/>
                </a:solidFill>
                <a:latin typeface="+mn-lt"/>
              </a:rPr>
              <a:t>https://docs.microsoft.com/ru-ru/windows/wsl/basic-commands</a:t>
            </a:r>
          </a:p>
          <a:p>
            <a:endParaRPr lang="ru-RU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 – </a:t>
            </a: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команды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179512" y="692696"/>
            <a:ext cx="87217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Просмотр доступных и установленных дистрибутивов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124744"/>
            <a:ext cx="6336704" cy="24699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51521" y="3717032"/>
            <a:ext cx="38884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Установка дистрибутива из списка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4077072"/>
            <a:ext cx="4038600" cy="57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395536" y="4797152"/>
            <a:ext cx="38884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Установка дистрибутива </a:t>
            </a:r>
            <a:r>
              <a:rPr lang="en-US" dirty="0">
                <a:solidFill>
                  <a:schemeClr val="bg1"/>
                </a:solidFill>
                <a:latin typeface="+mn-lt"/>
              </a:rPr>
              <a:t>o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nline</a:t>
            </a:r>
          </a:p>
          <a:p>
            <a:pPr algn="just">
              <a:defRPr/>
            </a:pPr>
            <a:r>
              <a:rPr lang="en-US" dirty="0">
                <a:solidFill>
                  <a:schemeClr val="bg1"/>
                </a:solidFill>
                <a:latin typeface="+mn-lt"/>
              </a:rPr>
              <a:t>https://aka.ms/wslstore -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wsl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+mn-lt"/>
              </a:rPr>
              <a:t>Ubuntu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220072" y="3140968"/>
            <a:ext cx="2633498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5536" y="5517232"/>
            <a:ext cx="4264408" cy="994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5344914" y="6237312"/>
            <a:ext cx="31808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При установке – логин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/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пароль</a:t>
            </a:r>
            <a:endParaRPr lang="en-US" dirty="0">
              <a:solidFill>
                <a:schemeClr val="bg1"/>
              </a:solidFill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 – </a:t>
            </a: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команды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179512" y="692696"/>
            <a:ext cx="8721725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Старт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и авторизация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1052736"/>
            <a:ext cx="416242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499992" y="692696"/>
            <a:ext cx="4451857" cy="4801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395536" y="5661248"/>
            <a:ext cx="8496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Смешанное исполнение программ в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и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Windows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, проводник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Windows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с корневым каталогом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</a:t>
            </a:r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7164288" y="4221088"/>
            <a:ext cx="648072" cy="10081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 /</a:t>
            </a:r>
            <a:r>
              <a:rPr lang="en-US" altLang="ru-RU" sz="3200" dirty="0" err="1" smtClean="0">
                <a:solidFill>
                  <a:schemeClr val="bg1"/>
                </a:solidFill>
                <a:latin typeface="Calibri" pitchFamily="34" charset="0"/>
              </a:rPr>
              <a:t>Ubuntu</a:t>
            </a: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 – </a:t>
            </a: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установка компонент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179512" y="692696"/>
            <a:ext cx="8721725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ru-RU" dirty="0" smtClean="0">
                <a:solidFill>
                  <a:srgbClr val="FFFF00"/>
                </a:solidFill>
              </a:rPr>
              <a:t>Установка </a:t>
            </a:r>
            <a:r>
              <a:rPr lang="en-US" dirty="0" smtClean="0">
                <a:solidFill>
                  <a:srgbClr val="FFFF00"/>
                </a:solidFill>
              </a:rPr>
              <a:t>c/</a:t>
            </a:r>
            <a:r>
              <a:rPr lang="en-US" dirty="0" err="1" smtClean="0">
                <a:solidFill>
                  <a:srgbClr val="FFFF00"/>
                </a:solidFill>
              </a:rPr>
              <a:t>c++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r>
              <a:rPr lang="ru-RU" dirty="0" smtClean="0">
                <a:solidFill>
                  <a:srgbClr val="FFFF00"/>
                </a:solidFill>
              </a:rPr>
              <a:t>в </a:t>
            </a:r>
            <a:r>
              <a:rPr lang="en-US" dirty="0" err="1" smtClean="0">
                <a:solidFill>
                  <a:srgbClr val="FFFF00"/>
                </a:solidFill>
              </a:rPr>
              <a:t>wsl</a:t>
            </a:r>
            <a:r>
              <a:rPr lang="en-US" dirty="0" smtClean="0">
                <a:solidFill>
                  <a:srgbClr val="FFFF00"/>
                </a:solidFill>
              </a:rPr>
              <a:t>/</a:t>
            </a:r>
            <a:r>
              <a:rPr lang="en-US" dirty="0" err="1" smtClean="0">
                <a:solidFill>
                  <a:srgbClr val="FFFF00"/>
                </a:solidFill>
              </a:rPr>
              <a:t>Ubuntu</a:t>
            </a:r>
            <a:endParaRPr lang="en-US" dirty="0" smtClean="0">
              <a:solidFill>
                <a:srgbClr val="FFFF00"/>
              </a:solidFill>
            </a:endParaRP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apt-get update</a:t>
            </a: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 install </a:t>
            </a:r>
            <a:r>
              <a:rPr lang="en-US" dirty="0" err="1" smtClean="0">
                <a:solidFill>
                  <a:schemeClr val="bg1"/>
                </a:solidFill>
              </a:rPr>
              <a:t>gcc</a:t>
            </a: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 install g++</a:t>
            </a: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apt-get install build-essential </a:t>
            </a:r>
            <a:r>
              <a:rPr lang="en-US" dirty="0" err="1" smtClean="0">
                <a:solidFill>
                  <a:schemeClr val="bg1"/>
                </a:solidFill>
              </a:rPr>
              <a:t>gdb</a:t>
            </a: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lang="ru-RU" dirty="0" smtClean="0">
                <a:solidFill>
                  <a:srgbClr val="FFFF00"/>
                </a:solidFill>
              </a:rPr>
              <a:t>Установка </a:t>
            </a:r>
            <a:r>
              <a:rPr lang="en-US" dirty="0" err="1" smtClean="0">
                <a:solidFill>
                  <a:srgbClr val="FFFF00"/>
                </a:solidFill>
              </a:rPr>
              <a:t>CodeBlocks</a:t>
            </a:r>
            <a:r>
              <a:rPr lang="en-US" dirty="0" smtClean="0">
                <a:solidFill>
                  <a:srgbClr val="FFFF00"/>
                </a:solidFill>
              </a:rPr>
              <a:t> </a:t>
            </a:r>
            <a:endParaRPr lang="ru-RU" dirty="0" smtClean="0">
              <a:solidFill>
                <a:srgbClr val="FFFF00"/>
              </a:solidFill>
            </a:endParaRP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add-apt-repository </a:t>
            </a:r>
            <a:r>
              <a:rPr lang="en-US" dirty="0" err="1" smtClean="0">
                <a:solidFill>
                  <a:schemeClr val="bg1"/>
                </a:solidFill>
              </a:rPr>
              <a:t>ppa:damien-moore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dirty="0" err="1" smtClean="0">
                <a:solidFill>
                  <a:schemeClr val="bg1"/>
                </a:solidFill>
              </a:rPr>
              <a:t>codeblocks</a:t>
            </a:r>
            <a:r>
              <a:rPr lang="en-US" dirty="0" smtClean="0">
                <a:solidFill>
                  <a:schemeClr val="bg1"/>
                </a:solidFill>
              </a:rPr>
              <a:t>-stable</a:t>
            </a: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 update </a:t>
            </a: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 install </a:t>
            </a:r>
            <a:r>
              <a:rPr lang="en-US" dirty="0" err="1" smtClean="0">
                <a:solidFill>
                  <a:schemeClr val="bg1"/>
                </a:solidFill>
              </a:rPr>
              <a:t>codeblocks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codeblocks-contrib</a:t>
            </a: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endParaRPr lang="en-US" dirty="0" smtClean="0">
              <a:solidFill>
                <a:schemeClr val="bg1"/>
              </a:solidFill>
            </a:endParaRPr>
          </a:p>
          <a:p>
            <a:pPr algn="just">
              <a:defRPr/>
            </a:pPr>
            <a:r>
              <a:rPr lang="ru-RU" dirty="0" smtClean="0">
                <a:solidFill>
                  <a:srgbClr val="FFFF00"/>
                </a:solidFill>
              </a:rPr>
              <a:t>Установка </a:t>
            </a:r>
            <a:r>
              <a:rPr lang="en-US" dirty="0" err="1" smtClean="0">
                <a:solidFill>
                  <a:srgbClr val="FFFF00"/>
                </a:solidFill>
              </a:rPr>
              <a:t>freeGlut</a:t>
            </a:r>
            <a:r>
              <a:rPr lang="en-US" dirty="0" smtClean="0">
                <a:solidFill>
                  <a:srgbClr val="FFFF00"/>
                </a:solidFill>
              </a:rPr>
              <a:t> (</a:t>
            </a:r>
            <a:r>
              <a:rPr lang="ru-RU" dirty="0" smtClean="0">
                <a:solidFill>
                  <a:srgbClr val="FFFF00"/>
                </a:solidFill>
              </a:rPr>
              <a:t>3</a:t>
            </a:r>
            <a:r>
              <a:rPr lang="en-US" dirty="0" smtClean="0">
                <a:solidFill>
                  <a:srgbClr val="FFFF00"/>
                </a:solidFill>
              </a:rPr>
              <a:t>D-</a:t>
            </a:r>
            <a:r>
              <a:rPr lang="ru-RU" dirty="0" smtClean="0">
                <a:solidFill>
                  <a:srgbClr val="FFFF00"/>
                </a:solidFill>
              </a:rPr>
              <a:t>графика </a:t>
            </a:r>
            <a:r>
              <a:rPr lang="en-US" dirty="0" smtClean="0">
                <a:solidFill>
                  <a:srgbClr val="FFFF00"/>
                </a:solidFill>
              </a:rPr>
              <a:t>OpenGL </a:t>
            </a:r>
            <a:r>
              <a:rPr lang="ru-RU" dirty="0" smtClean="0">
                <a:solidFill>
                  <a:srgbClr val="FFFF00"/>
                </a:solidFill>
              </a:rPr>
              <a:t>для РГР)</a:t>
            </a:r>
            <a:endParaRPr lang="en-US" dirty="0" smtClean="0">
              <a:solidFill>
                <a:srgbClr val="FFFF00"/>
              </a:solidFill>
            </a:endParaRP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apt-get install freeglut3 </a:t>
            </a:r>
            <a:r>
              <a:rPr lang="en-US" dirty="0" err="1" smtClean="0">
                <a:solidFill>
                  <a:schemeClr val="bg1"/>
                </a:solidFill>
              </a:rPr>
              <a:t>freeglut3</a:t>
            </a:r>
            <a:r>
              <a:rPr lang="en-US" dirty="0" smtClean="0">
                <a:solidFill>
                  <a:schemeClr val="bg1"/>
                </a:solidFill>
              </a:rPr>
              <a:t>-dev</a:t>
            </a:r>
          </a:p>
          <a:p>
            <a:pPr algn="just">
              <a:defRPr/>
            </a:pPr>
            <a:r>
              <a:rPr lang="en-US" dirty="0" err="1" smtClean="0">
                <a:solidFill>
                  <a:schemeClr val="bg1"/>
                </a:solidFill>
              </a:rPr>
              <a:t>sudo</a:t>
            </a:r>
            <a:r>
              <a:rPr lang="en-US" dirty="0" smtClean="0">
                <a:solidFill>
                  <a:schemeClr val="bg1"/>
                </a:solidFill>
              </a:rPr>
              <a:t> apt-get install </a:t>
            </a:r>
            <a:r>
              <a:rPr lang="en-US" dirty="0" err="1" smtClean="0">
                <a:solidFill>
                  <a:schemeClr val="bg1"/>
                </a:solidFill>
              </a:rPr>
              <a:t>binutils</a:t>
            </a:r>
            <a:r>
              <a:rPr lang="en-US" dirty="0" smtClean="0">
                <a:solidFill>
                  <a:schemeClr val="bg1"/>
                </a:solidFill>
              </a:rPr>
              <a:t>-gold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Графика для приложений </a:t>
            </a: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Linux</a:t>
            </a:r>
            <a:r>
              <a:rPr lang="ru-RU" altLang="ru-RU" sz="3200" dirty="0" smtClean="0">
                <a:solidFill>
                  <a:schemeClr val="bg1"/>
                </a:solidFill>
                <a:latin typeface="Calibri" pitchFamily="34" charset="0"/>
              </a:rPr>
              <a:t> в </a:t>
            </a: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Прямоугольник 1"/>
          <p:cNvSpPr/>
          <p:nvPr/>
        </p:nvSpPr>
        <p:spPr>
          <a:xfrm>
            <a:off x="179512" y="692696"/>
            <a:ext cx="8721725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dirty="0" err="1" smtClean="0">
                <a:solidFill>
                  <a:srgbClr val="FFFF00"/>
                </a:solidFill>
                <a:latin typeface="+mn-lt"/>
              </a:rPr>
              <a:t>VcXsrv</a:t>
            </a:r>
            <a:r>
              <a:rPr lang="en-US" dirty="0" smtClean="0">
                <a:solidFill>
                  <a:srgbClr val="FFFF00"/>
                </a:solidFill>
                <a:latin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под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Windows -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эмуляция граф. интерфейса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Linux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под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Windows –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сервер графики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https://sourceforge.net/projects/vcxsrv/</a:t>
            </a:r>
          </a:p>
          <a:p>
            <a:pPr algn="just">
              <a:defRPr/>
            </a:pP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При запуске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XLaunch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в 3 окне по счету "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Extra settings" 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 Disable Access Control</a:t>
            </a:r>
          </a:p>
          <a:p>
            <a:pPr algn="just">
              <a:buFont typeface="Arial" pitchFamily="34" charset="0"/>
              <a:buChar char="•"/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в поле "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Additional parameters for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VcXsrv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"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ввести строку:</a:t>
            </a:r>
          </a:p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-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xkblayout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us,ru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-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xkbvariant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winkeys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-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xkboptions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grp:ctrl_shift_toggle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Linux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(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WSL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)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:</a:t>
            </a: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cat /etc/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resolv.conf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 -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получить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ip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,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через который работать</a:t>
            </a:r>
          </a:p>
          <a:p>
            <a:pPr algn="just">
              <a:defRPr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172.31.224.1, выполнить команду</a:t>
            </a:r>
          </a:p>
          <a:p>
            <a:pPr algn="just">
              <a:defRPr/>
            </a:pPr>
            <a:r>
              <a:rPr lang="en-US" dirty="0" smtClean="0">
                <a:solidFill>
                  <a:schemeClr val="bg1"/>
                </a:solidFill>
                <a:latin typeface="+mn-lt"/>
              </a:rPr>
              <a:t>export DISPLAY=172.31.224.1</a:t>
            </a:r>
            <a:r>
              <a:rPr lang="en-US" dirty="0" smtClean="0">
                <a:solidFill>
                  <a:srgbClr val="FFFF00"/>
                </a:solidFill>
                <a:latin typeface="+mn-lt"/>
              </a:rPr>
              <a:t>:0</a:t>
            </a:r>
          </a:p>
          <a:p>
            <a:pPr algn="just">
              <a:defRPr/>
            </a:pP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76256" y="1124744"/>
            <a:ext cx="1863477" cy="12448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2852936"/>
            <a:ext cx="3638561" cy="2913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1521" y="5351320"/>
            <a:ext cx="5616623" cy="1310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Заголовок 5"/>
          <p:cNvSpPr txBox="1">
            <a:spLocks/>
          </p:cNvSpPr>
          <p:nvPr/>
        </p:nvSpPr>
        <p:spPr bwMode="auto">
          <a:xfrm>
            <a:off x="493713" y="174625"/>
            <a:ext cx="82296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WSL  </a:t>
            </a:r>
            <a:r>
              <a:rPr lang="en-US" altLang="ru-RU" sz="3200" dirty="0" err="1" smtClean="0">
                <a:solidFill>
                  <a:schemeClr val="bg1"/>
                </a:solidFill>
                <a:latin typeface="Calibri" pitchFamily="34" charset="0"/>
              </a:rPr>
              <a:t>CodeBlocks</a:t>
            </a:r>
            <a:r>
              <a:rPr lang="en-US" altLang="ru-RU" sz="3200" dirty="0" smtClean="0">
                <a:solidFill>
                  <a:schemeClr val="bg1"/>
                </a:solidFill>
                <a:latin typeface="Calibri" pitchFamily="34" charset="0"/>
              </a:rPr>
              <a:t>/</a:t>
            </a:r>
            <a:r>
              <a:rPr lang="en-US" altLang="ru-RU" sz="3200" dirty="0" err="1" smtClean="0">
                <a:solidFill>
                  <a:schemeClr val="bg1"/>
                </a:solidFill>
                <a:latin typeface="Calibri" pitchFamily="34" charset="0"/>
              </a:rPr>
              <a:t>FreeGlut</a:t>
            </a:r>
            <a:endParaRPr lang="ru-RU" altLang="ru-RU" sz="3200" dirty="0">
              <a:solidFill>
                <a:schemeClr val="bg1"/>
              </a:solidFill>
              <a:latin typeface="Calibri" pitchFamily="34" charset="0"/>
            </a:endParaRPr>
          </a:p>
        </p:txBody>
      </p:sp>
      <p:pic>
        <p:nvPicPr>
          <p:cNvPr id="2051" name="Рисунок 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3525" y="206375"/>
            <a:ext cx="40005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Прямоугольник 4"/>
          <p:cNvSpPr/>
          <p:nvPr/>
        </p:nvSpPr>
        <p:spPr>
          <a:xfrm>
            <a:off x="467544" y="764705"/>
            <a:ext cx="417646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Запустить и настроить </a:t>
            </a:r>
            <a:r>
              <a:rPr lang="en-US" dirty="0" err="1" smtClean="0">
                <a:solidFill>
                  <a:srgbClr val="FFFF00"/>
                </a:solidFill>
                <a:latin typeface="+mn-lt"/>
              </a:rPr>
              <a:t>VcXsrv</a:t>
            </a:r>
            <a:r>
              <a:rPr lang="en-US" dirty="0" smtClean="0">
                <a:solidFill>
                  <a:srgbClr val="FFFF00"/>
                </a:solidFill>
                <a:latin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под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Windows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, настроить в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WSL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 (см.выше)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Запустить 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CodeBlocks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под </a:t>
            </a:r>
            <a:r>
              <a:rPr lang="en-US" smtClean="0">
                <a:solidFill>
                  <a:schemeClr val="bg1"/>
                </a:solidFill>
                <a:latin typeface="+mn-lt"/>
              </a:rPr>
              <a:t>WSL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Меню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Settings – Compiler – Linker Settings – </a:t>
            </a:r>
            <a:r>
              <a:rPr lang="ru-RU" dirty="0" smtClean="0">
                <a:solidFill>
                  <a:schemeClr val="bg1"/>
                </a:solidFill>
                <a:latin typeface="+mn-lt"/>
              </a:rPr>
              <a:t>Поле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Other Linker Options</a:t>
            </a:r>
            <a:endParaRPr lang="ru-RU" dirty="0" smtClean="0">
              <a:solidFill>
                <a:schemeClr val="bg1"/>
              </a:solidFill>
              <a:latin typeface="+mn-lt"/>
            </a:endParaRPr>
          </a:p>
          <a:p>
            <a:pPr marL="342900" indent="-342900"/>
            <a:r>
              <a:rPr lang="ru-RU" dirty="0" smtClean="0">
                <a:solidFill>
                  <a:schemeClr val="bg1"/>
                </a:solidFill>
                <a:latin typeface="+mn-lt"/>
              </a:rPr>
              <a:t>      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-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lGL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-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lGLU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 –</a:t>
            </a:r>
            <a:r>
              <a:rPr lang="en-US" dirty="0" err="1" smtClean="0">
                <a:solidFill>
                  <a:schemeClr val="bg1"/>
                </a:solidFill>
                <a:latin typeface="+mn-lt"/>
              </a:rPr>
              <a:t>lglut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Создать проект </a:t>
            </a:r>
            <a:r>
              <a:rPr lang="en-US" dirty="0" smtClean="0">
                <a:solidFill>
                  <a:schemeClr val="bg1"/>
                </a:solidFill>
                <a:latin typeface="+mn-lt"/>
              </a:rPr>
              <a:t>Console Application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>
                <a:solidFill>
                  <a:schemeClr val="bg1"/>
                </a:solidFill>
                <a:latin typeface="+mn-lt"/>
              </a:rPr>
              <a:t>Добавить файл примера</a:t>
            </a:r>
            <a:endParaRPr lang="en-US" dirty="0" smtClean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92080" y="692696"/>
            <a:ext cx="3354338" cy="5316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427984" y="1412776"/>
            <a:ext cx="4577705" cy="21814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1520" y="3356992"/>
            <a:ext cx="4464496" cy="1428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563888" y="3861048"/>
            <a:ext cx="5472608" cy="289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2647</TotalTime>
  <Words>460</Words>
  <Application>Microsoft Office PowerPoint</Application>
  <PresentationFormat>Экран (4:3)</PresentationFormat>
  <Paragraphs>74</Paragraphs>
  <Slides>8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Слайд 1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Admin</cp:lastModifiedBy>
  <cp:revision>229</cp:revision>
  <dcterms:created xsi:type="dcterms:W3CDTF">2013-11-27T15:30:29Z</dcterms:created>
  <dcterms:modified xsi:type="dcterms:W3CDTF">2026-02-03T04:35:15Z</dcterms:modified>
</cp:coreProperties>
</file>